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4630400" cy="8229600"/>
  <p:notesSz cx="8229600" cy="14630400"/>
  <p:embeddedFontLst>
    <p:embeddedFont>
      <p:font typeface="DM Sans" pitchFamily="2" charset="0"/>
      <p:regular r:id="rId8"/>
    </p:embeddedFont>
    <p:embeddedFont>
      <p:font typeface="Libre Baskerville" panose="02000000000000000000" pitchFamily="2" charset="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138"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0367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683073"/>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Understanding Light Dependent Resistors (LDRs)</a:t>
            </a:r>
            <a:endParaRPr lang="en-US" sz="4450" dirty="0"/>
          </a:p>
        </p:txBody>
      </p:sp>
      <p:sp>
        <p:nvSpPr>
          <p:cNvPr id="4" name="Shape 1"/>
          <p:cNvSpPr/>
          <p:nvPr/>
        </p:nvSpPr>
        <p:spPr>
          <a:xfrm>
            <a:off x="6280190" y="5166479"/>
            <a:ext cx="362903" cy="362903"/>
          </a:xfrm>
          <a:prstGeom prst="roundRect">
            <a:avLst>
              <a:gd name="adj" fmla="val 25194296"/>
            </a:avLst>
          </a:prstGeom>
          <a:noFill/>
          <a:ln w="7620">
            <a:solidFill>
              <a:srgbClr val="FFFFFF"/>
            </a:solidFill>
            <a:prstDash val="solid"/>
          </a:ln>
        </p:spPr>
      </p:sp>
      <p:pic>
        <p:nvPicPr>
          <p:cNvPr id="5" name="Image 1" descr="preencoded.png"/>
          <p:cNvPicPr>
            <a:picLocks noChangeAspect="1"/>
          </p:cNvPicPr>
          <p:nvPr/>
        </p:nvPicPr>
        <p:blipFill>
          <a:blip r:embed="rId4"/>
          <a:stretch>
            <a:fillRect/>
          </a:stretch>
        </p:blipFill>
        <p:spPr>
          <a:xfrm>
            <a:off x="6287810" y="5174099"/>
            <a:ext cx="347663" cy="347663"/>
          </a:xfrm>
          <a:prstGeom prst="rect">
            <a:avLst/>
          </a:prstGeom>
        </p:spPr>
      </p:pic>
      <p:sp>
        <p:nvSpPr>
          <p:cNvPr id="6" name="Text 2"/>
          <p:cNvSpPr/>
          <p:nvPr/>
        </p:nvSpPr>
        <p:spPr>
          <a:xfrm>
            <a:off x="6756440" y="5149572"/>
            <a:ext cx="2839641" cy="396835"/>
          </a:xfrm>
          <a:prstGeom prst="rect">
            <a:avLst/>
          </a:prstGeom>
          <a:noFill/>
          <a:ln/>
        </p:spPr>
        <p:txBody>
          <a:bodyPr wrap="none" lIns="0" tIns="0" rIns="0" bIns="0" rtlCol="0" anchor="t"/>
          <a:lstStyle/>
          <a:p>
            <a:pPr marL="0" indent="0" algn="l">
              <a:lnSpc>
                <a:spcPts val="3100"/>
              </a:lnSpc>
              <a:buNone/>
            </a:pPr>
            <a:r>
              <a:rPr lang="en-US" sz="2200" b="1" dirty="0">
                <a:solidFill>
                  <a:srgbClr val="454240"/>
                </a:solidFill>
                <a:latin typeface="DM Sans Bold" pitchFamily="34" charset="0"/>
                <a:ea typeface="DM Sans Bold" pitchFamily="34" charset="-122"/>
                <a:cs typeface="DM Sans Bold" pitchFamily="34" charset="-120"/>
              </a:rPr>
              <a:t>by Aryan Choudhary</a:t>
            </a:r>
            <a:endParaRPr lang="en-US" sz="2200" dirty="0"/>
          </a:p>
        </p:txBody>
      </p:sp>
      <p:pic>
        <p:nvPicPr>
          <p:cNvPr id="8" name="Picture 7">
            <a:extLst>
              <a:ext uri="{FF2B5EF4-FFF2-40B4-BE49-F238E27FC236}">
                <a16:creationId xmlns:a16="http://schemas.microsoft.com/office/drawing/2014/main" id="{6E7F3534-35E0-16EF-FF66-0278F34BEC49}"/>
              </a:ext>
            </a:extLst>
          </p:cNvPr>
          <p:cNvPicPr>
            <a:picLocks noChangeAspect="1"/>
          </p:cNvPicPr>
          <p:nvPr/>
        </p:nvPicPr>
        <p:blipFill>
          <a:blip r:embed="rId5"/>
          <a:stretch>
            <a:fillRect/>
          </a:stretch>
        </p:blipFill>
        <p:spPr>
          <a:xfrm>
            <a:off x="12245419" y="7637937"/>
            <a:ext cx="2384981" cy="5338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79177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What is an LDR?</a:t>
            </a:r>
            <a:endParaRPr lang="en-US" sz="4450" dirty="0"/>
          </a:p>
        </p:txBody>
      </p:sp>
      <p:sp>
        <p:nvSpPr>
          <p:cNvPr id="4" name="Shape 1"/>
          <p:cNvSpPr/>
          <p:nvPr/>
        </p:nvSpPr>
        <p:spPr>
          <a:xfrm>
            <a:off x="793790" y="2840712"/>
            <a:ext cx="7556421" cy="1685092"/>
          </a:xfrm>
          <a:prstGeom prst="roundRect">
            <a:avLst>
              <a:gd name="adj" fmla="val 5654"/>
            </a:avLst>
          </a:prstGeom>
          <a:solidFill>
            <a:srgbClr val="F7EDD4"/>
          </a:solidFill>
          <a:ln w="7620">
            <a:solidFill>
              <a:srgbClr val="DDD3BA"/>
            </a:solidFill>
            <a:prstDash val="solid"/>
          </a:ln>
        </p:spPr>
      </p:sp>
      <p:sp>
        <p:nvSpPr>
          <p:cNvPr id="5" name="Text 2"/>
          <p:cNvSpPr/>
          <p:nvPr/>
        </p:nvSpPr>
        <p:spPr>
          <a:xfrm>
            <a:off x="1028224" y="307514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Definition</a:t>
            </a:r>
            <a:endParaRPr lang="en-US" sz="2200" dirty="0"/>
          </a:p>
        </p:txBody>
      </p:sp>
      <p:sp>
        <p:nvSpPr>
          <p:cNvPr id="6" name="Text 3"/>
          <p:cNvSpPr/>
          <p:nvPr/>
        </p:nvSpPr>
        <p:spPr>
          <a:xfrm>
            <a:off x="1028224" y="3565565"/>
            <a:ext cx="7087553"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An LDR, or Photoresistor, is a resistor. Its resistance changes with light intensity. More light means less resistance.</a:t>
            </a:r>
            <a:endParaRPr lang="en-US" sz="1750" dirty="0"/>
          </a:p>
        </p:txBody>
      </p:sp>
      <p:sp>
        <p:nvSpPr>
          <p:cNvPr id="7" name="Shape 4"/>
          <p:cNvSpPr/>
          <p:nvPr/>
        </p:nvSpPr>
        <p:spPr>
          <a:xfrm>
            <a:off x="793790" y="4752618"/>
            <a:ext cx="7556421" cy="1685092"/>
          </a:xfrm>
          <a:prstGeom prst="roundRect">
            <a:avLst>
              <a:gd name="adj" fmla="val 5654"/>
            </a:avLst>
          </a:prstGeom>
          <a:solidFill>
            <a:srgbClr val="F7EDD4"/>
          </a:solidFill>
          <a:ln w="7620">
            <a:solidFill>
              <a:srgbClr val="DDD3BA"/>
            </a:solidFill>
            <a:prstDash val="solid"/>
          </a:ln>
        </p:spPr>
      </p:sp>
      <p:sp>
        <p:nvSpPr>
          <p:cNvPr id="8" name="Text 5"/>
          <p:cNvSpPr/>
          <p:nvPr/>
        </p:nvSpPr>
        <p:spPr>
          <a:xfrm>
            <a:off x="1028224" y="498705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Basic Principle</a:t>
            </a:r>
            <a:endParaRPr lang="en-US" sz="2200" dirty="0"/>
          </a:p>
        </p:txBody>
      </p:sp>
      <p:sp>
        <p:nvSpPr>
          <p:cNvPr id="9" name="Text 6"/>
          <p:cNvSpPr/>
          <p:nvPr/>
        </p:nvSpPr>
        <p:spPr>
          <a:xfrm>
            <a:off x="1028224" y="5477470"/>
            <a:ext cx="7087553"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It's a semiconductor device. It uses the photoelectric effect. Light energy frees electrons. This increases conductivity.</a:t>
            </a:r>
            <a:endParaRPr lang="en-US" sz="1750" dirty="0"/>
          </a:p>
        </p:txBody>
      </p:sp>
      <p:pic>
        <p:nvPicPr>
          <p:cNvPr id="10" name="Picture 9">
            <a:extLst>
              <a:ext uri="{FF2B5EF4-FFF2-40B4-BE49-F238E27FC236}">
                <a16:creationId xmlns:a16="http://schemas.microsoft.com/office/drawing/2014/main" id="{5451D18F-898D-A1AD-006D-16603BC6F576}"/>
              </a:ext>
            </a:extLst>
          </p:cNvPr>
          <p:cNvPicPr>
            <a:picLocks noChangeAspect="1"/>
          </p:cNvPicPr>
          <p:nvPr/>
        </p:nvPicPr>
        <p:blipFill>
          <a:blip r:embed="rId4"/>
          <a:stretch>
            <a:fillRect/>
          </a:stretch>
        </p:blipFill>
        <p:spPr>
          <a:xfrm>
            <a:off x="0" y="0"/>
            <a:ext cx="2384981" cy="5338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063591"/>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How LDRs Work</a:t>
            </a:r>
            <a:endParaRPr lang="en-US" sz="4450" dirty="0"/>
          </a:p>
        </p:txBody>
      </p:sp>
      <p:pic>
        <p:nvPicPr>
          <p:cNvPr id="3" name="Image 0" descr="preencoded.png"/>
          <p:cNvPicPr>
            <a:picLocks noChangeAspect="1"/>
          </p:cNvPicPr>
          <p:nvPr/>
        </p:nvPicPr>
        <p:blipFill>
          <a:blip r:embed="rId3"/>
          <a:stretch>
            <a:fillRect/>
          </a:stretch>
        </p:blipFill>
        <p:spPr>
          <a:xfrm>
            <a:off x="793790" y="3225998"/>
            <a:ext cx="4347567" cy="907256"/>
          </a:xfrm>
          <a:prstGeom prst="rect">
            <a:avLst/>
          </a:prstGeom>
        </p:spPr>
      </p:pic>
      <p:sp>
        <p:nvSpPr>
          <p:cNvPr id="4" name="Text 1"/>
          <p:cNvSpPr/>
          <p:nvPr/>
        </p:nvSpPr>
        <p:spPr>
          <a:xfrm>
            <a:off x="1020604" y="436006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Darkness</a:t>
            </a:r>
            <a:endParaRPr lang="en-US" sz="2200" dirty="0"/>
          </a:p>
        </p:txBody>
      </p:sp>
      <p:sp>
        <p:nvSpPr>
          <p:cNvPr id="5" name="Text 2"/>
          <p:cNvSpPr/>
          <p:nvPr/>
        </p:nvSpPr>
        <p:spPr>
          <a:xfrm>
            <a:off x="1020604" y="4850487"/>
            <a:ext cx="3893939" cy="1088708"/>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In the dark, an LDR has high resistance. It blocks electric current flow.</a:t>
            </a:r>
            <a:endParaRPr lang="en-US" sz="1750" dirty="0"/>
          </a:p>
        </p:txBody>
      </p:sp>
      <p:pic>
        <p:nvPicPr>
          <p:cNvPr id="6" name="Image 1" descr="preencoded.png"/>
          <p:cNvPicPr>
            <a:picLocks noChangeAspect="1"/>
          </p:cNvPicPr>
          <p:nvPr/>
        </p:nvPicPr>
        <p:blipFill>
          <a:blip r:embed="rId4"/>
          <a:stretch>
            <a:fillRect/>
          </a:stretch>
        </p:blipFill>
        <p:spPr>
          <a:xfrm>
            <a:off x="5141357" y="3225998"/>
            <a:ext cx="4347567" cy="907256"/>
          </a:xfrm>
          <a:prstGeom prst="rect">
            <a:avLst/>
          </a:prstGeom>
        </p:spPr>
      </p:pic>
      <p:sp>
        <p:nvSpPr>
          <p:cNvPr id="7" name="Text 3"/>
          <p:cNvSpPr/>
          <p:nvPr/>
        </p:nvSpPr>
        <p:spPr>
          <a:xfrm>
            <a:off x="5368171" y="436006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Low Light</a:t>
            </a:r>
            <a:endParaRPr lang="en-US" sz="2200" dirty="0"/>
          </a:p>
        </p:txBody>
      </p:sp>
      <p:sp>
        <p:nvSpPr>
          <p:cNvPr id="8" name="Text 4"/>
          <p:cNvSpPr/>
          <p:nvPr/>
        </p:nvSpPr>
        <p:spPr>
          <a:xfrm>
            <a:off x="5368171" y="4850487"/>
            <a:ext cx="3893939"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As light increases, resistance drops. More current can pass through.</a:t>
            </a:r>
            <a:endParaRPr lang="en-US" sz="1750" dirty="0"/>
          </a:p>
        </p:txBody>
      </p:sp>
      <p:pic>
        <p:nvPicPr>
          <p:cNvPr id="9" name="Image 2" descr="preencoded.png"/>
          <p:cNvPicPr>
            <a:picLocks noChangeAspect="1"/>
          </p:cNvPicPr>
          <p:nvPr/>
        </p:nvPicPr>
        <p:blipFill>
          <a:blip r:embed="rId5"/>
          <a:stretch>
            <a:fillRect/>
          </a:stretch>
        </p:blipFill>
        <p:spPr>
          <a:xfrm>
            <a:off x="9488924" y="3225998"/>
            <a:ext cx="4347567" cy="907256"/>
          </a:xfrm>
          <a:prstGeom prst="rect">
            <a:avLst/>
          </a:prstGeom>
        </p:spPr>
      </p:pic>
      <p:sp>
        <p:nvSpPr>
          <p:cNvPr id="10" name="Text 5"/>
          <p:cNvSpPr/>
          <p:nvPr/>
        </p:nvSpPr>
        <p:spPr>
          <a:xfrm>
            <a:off x="9715738" y="436006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Bright Light</a:t>
            </a:r>
            <a:endParaRPr lang="en-US" sz="2200" dirty="0"/>
          </a:p>
        </p:txBody>
      </p:sp>
      <p:sp>
        <p:nvSpPr>
          <p:cNvPr id="11" name="Text 6"/>
          <p:cNvSpPr/>
          <p:nvPr/>
        </p:nvSpPr>
        <p:spPr>
          <a:xfrm>
            <a:off x="9715738" y="4850487"/>
            <a:ext cx="3893939"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In bright light, resistance is very low. It acts almost like a wire.</a:t>
            </a:r>
            <a:endParaRPr lang="en-US" sz="1750" dirty="0"/>
          </a:p>
        </p:txBody>
      </p:sp>
      <p:pic>
        <p:nvPicPr>
          <p:cNvPr id="12" name="Picture 11">
            <a:extLst>
              <a:ext uri="{FF2B5EF4-FFF2-40B4-BE49-F238E27FC236}">
                <a16:creationId xmlns:a16="http://schemas.microsoft.com/office/drawing/2014/main" id="{8CF05E81-0AAE-C0B1-86FD-1336D4C9B5BE}"/>
              </a:ext>
            </a:extLst>
          </p:cNvPr>
          <p:cNvPicPr>
            <a:picLocks noChangeAspect="1"/>
          </p:cNvPicPr>
          <p:nvPr/>
        </p:nvPicPr>
        <p:blipFill>
          <a:blip r:embed="rId6"/>
          <a:stretch>
            <a:fillRect/>
          </a:stretch>
        </p:blipFill>
        <p:spPr>
          <a:xfrm>
            <a:off x="12245419" y="7655014"/>
            <a:ext cx="2384981" cy="53388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80135"/>
            <a:ext cx="10755511" cy="708779"/>
          </a:xfrm>
          <a:prstGeom prst="rect">
            <a:avLst/>
          </a:prstGeom>
          <a:noFill/>
          <a:ln/>
        </p:spPr>
        <p:txBody>
          <a:bodyPr wrap="none" lIns="0" tIns="0" rIns="0" bIns="0" rtlCol="0" anchor="t"/>
          <a:lstStyle/>
          <a:p>
            <a:pPr marL="0" indent="0" algn="l">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LDR Circuit Symbol and Appearance</a:t>
            </a:r>
            <a:endParaRPr lang="en-US" sz="4450" dirty="0"/>
          </a:p>
        </p:txBody>
      </p:sp>
      <p:sp>
        <p:nvSpPr>
          <p:cNvPr id="3" name="Text 1"/>
          <p:cNvSpPr/>
          <p:nvPr/>
        </p:nvSpPr>
        <p:spPr>
          <a:xfrm>
            <a:off x="793790" y="235589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C4E3D"/>
                </a:solidFill>
                <a:latin typeface="Libre Baskerville" pitchFamily="34" charset="0"/>
                <a:ea typeface="Libre Baskerville" pitchFamily="34" charset="-122"/>
                <a:cs typeface="Libre Baskerville" pitchFamily="34" charset="-120"/>
              </a:rPr>
              <a:t>Circuit Symbol</a:t>
            </a:r>
            <a:endParaRPr lang="en-US" sz="2200" dirty="0"/>
          </a:p>
        </p:txBody>
      </p:sp>
      <p:pic>
        <p:nvPicPr>
          <p:cNvPr id="4" name="Image 0" descr="preencoded.png"/>
          <p:cNvPicPr>
            <a:picLocks noChangeAspect="1"/>
          </p:cNvPicPr>
          <p:nvPr/>
        </p:nvPicPr>
        <p:blipFill>
          <a:blip r:embed="rId3"/>
          <a:stretch>
            <a:fillRect/>
          </a:stretch>
        </p:blipFill>
        <p:spPr>
          <a:xfrm>
            <a:off x="793790" y="2965371"/>
            <a:ext cx="5078373" cy="1534716"/>
          </a:xfrm>
          <a:prstGeom prst="rect">
            <a:avLst/>
          </a:prstGeom>
        </p:spPr>
      </p:pic>
      <p:sp>
        <p:nvSpPr>
          <p:cNvPr id="5" name="Text 2"/>
          <p:cNvSpPr/>
          <p:nvPr/>
        </p:nvSpPr>
        <p:spPr>
          <a:xfrm>
            <a:off x="793790" y="4755237"/>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This is the standard symbol. The arrows show light input. It's often found in circuit diagrams.</a:t>
            </a:r>
            <a:endParaRPr lang="en-US" sz="1750" dirty="0"/>
          </a:p>
        </p:txBody>
      </p:sp>
      <p:sp>
        <p:nvSpPr>
          <p:cNvPr id="6" name="Text 3"/>
          <p:cNvSpPr/>
          <p:nvPr/>
        </p:nvSpPr>
        <p:spPr>
          <a:xfrm>
            <a:off x="7599521" y="235589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C4E3D"/>
                </a:solidFill>
                <a:latin typeface="Libre Baskerville" pitchFamily="34" charset="0"/>
                <a:ea typeface="Libre Baskerville" pitchFamily="34" charset="-122"/>
                <a:cs typeface="Libre Baskerville" pitchFamily="34" charset="-120"/>
              </a:rPr>
              <a:t>Real-life LDR</a:t>
            </a:r>
            <a:endParaRPr lang="en-US" sz="2200" dirty="0"/>
          </a:p>
        </p:txBody>
      </p:sp>
      <p:pic>
        <p:nvPicPr>
          <p:cNvPr id="7" name="Image 1" descr="preencoded.png"/>
          <p:cNvPicPr>
            <a:picLocks noChangeAspect="1"/>
          </p:cNvPicPr>
          <p:nvPr/>
        </p:nvPicPr>
        <p:blipFill>
          <a:blip r:embed="rId4"/>
          <a:stretch>
            <a:fillRect/>
          </a:stretch>
        </p:blipFill>
        <p:spPr>
          <a:xfrm>
            <a:off x="9222343" y="2965371"/>
            <a:ext cx="2999065" cy="2999065"/>
          </a:xfrm>
          <a:prstGeom prst="rect">
            <a:avLst/>
          </a:prstGeom>
        </p:spPr>
      </p:pic>
      <p:sp>
        <p:nvSpPr>
          <p:cNvPr id="8" name="Text 4"/>
          <p:cNvSpPr/>
          <p:nvPr/>
        </p:nvSpPr>
        <p:spPr>
          <a:xfrm>
            <a:off x="7599521" y="6219587"/>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LDRs are small, with a zigzag pattern. This pattern maximizes surface area. It helps capture more light.</a:t>
            </a:r>
            <a:endParaRPr lang="en-US" sz="1750" dirty="0"/>
          </a:p>
        </p:txBody>
      </p:sp>
      <p:pic>
        <p:nvPicPr>
          <p:cNvPr id="9" name="Picture 8">
            <a:extLst>
              <a:ext uri="{FF2B5EF4-FFF2-40B4-BE49-F238E27FC236}">
                <a16:creationId xmlns:a16="http://schemas.microsoft.com/office/drawing/2014/main" id="{77DE4CCC-60C1-38DE-D135-90523CA0BDF9}"/>
              </a:ext>
            </a:extLst>
          </p:cNvPr>
          <p:cNvPicPr>
            <a:picLocks noChangeAspect="1"/>
          </p:cNvPicPr>
          <p:nvPr/>
        </p:nvPicPr>
        <p:blipFill>
          <a:blip r:embed="rId5"/>
          <a:stretch>
            <a:fillRect/>
          </a:stretch>
        </p:blipFill>
        <p:spPr>
          <a:xfrm>
            <a:off x="12245419" y="7695714"/>
            <a:ext cx="2384981" cy="53388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58071" y="595551"/>
            <a:ext cx="8080653" cy="676870"/>
          </a:xfrm>
          <a:prstGeom prst="rect">
            <a:avLst/>
          </a:prstGeom>
          <a:noFill/>
          <a:ln/>
        </p:spPr>
        <p:txBody>
          <a:bodyPr wrap="none" lIns="0" tIns="0" rIns="0" bIns="0" rtlCol="0" anchor="t"/>
          <a:lstStyle/>
          <a:p>
            <a:pPr marL="0" indent="0" algn="l">
              <a:lnSpc>
                <a:spcPts val="5300"/>
              </a:lnSpc>
              <a:buNone/>
            </a:pPr>
            <a:r>
              <a:rPr lang="en-US" sz="4250" dirty="0">
                <a:solidFill>
                  <a:srgbClr val="5C4E3D"/>
                </a:solidFill>
                <a:latin typeface="Libre Baskerville" pitchFamily="34" charset="0"/>
                <a:ea typeface="Libre Baskerville" pitchFamily="34" charset="-122"/>
                <a:cs typeface="Libre Baskerville" pitchFamily="34" charset="-120"/>
              </a:rPr>
              <a:t>Simple LDR and LED Circuit</a:t>
            </a:r>
            <a:endParaRPr lang="en-US" sz="4250" dirty="0"/>
          </a:p>
        </p:txBody>
      </p:sp>
      <p:sp>
        <p:nvSpPr>
          <p:cNvPr id="3" name="Text 1"/>
          <p:cNvSpPr/>
          <p:nvPr/>
        </p:nvSpPr>
        <p:spPr>
          <a:xfrm>
            <a:off x="758071" y="1597223"/>
            <a:ext cx="13114258" cy="692944"/>
          </a:xfrm>
          <a:prstGeom prst="rect">
            <a:avLst/>
          </a:prstGeom>
          <a:noFill/>
          <a:ln/>
        </p:spPr>
        <p:txBody>
          <a:bodyPr wrap="square" lIns="0" tIns="0" rIns="0" bIns="0" rtlCol="0" anchor="t"/>
          <a:lstStyle/>
          <a:p>
            <a:pPr marL="0" indent="0" algn="l">
              <a:lnSpc>
                <a:spcPts val="2700"/>
              </a:lnSpc>
              <a:buNone/>
            </a:pPr>
            <a:r>
              <a:rPr lang="en-US" sz="1700" dirty="0">
                <a:solidFill>
                  <a:srgbClr val="454240"/>
                </a:solidFill>
                <a:latin typeface="DM Sans" pitchFamily="34" charset="0"/>
                <a:ea typeface="DM Sans" pitchFamily="34" charset="-122"/>
                <a:cs typeface="DM Sans" pitchFamily="34" charset="-120"/>
              </a:rPr>
              <a:t>In this circuit, the LED lights up in the dark. When light hits the LDR, its resistance drops. This diverts current from the LED, turning it off. This shows an LDR as a light-con</a:t>
            </a:r>
            <a:endParaRPr lang="en-US" sz="1700" dirty="0"/>
          </a:p>
        </p:txBody>
      </p:sp>
      <p:pic>
        <p:nvPicPr>
          <p:cNvPr id="4" name="Image 0" descr="preencoded.png"/>
          <p:cNvPicPr>
            <a:picLocks noChangeAspect="1"/>
          </p:cNvPicPr>
          <p:nvPr/>
        </p:nvPicPr>
        <p:blipFill>
          <a:blip r:embed="rId3"/>
          <a:stretch>
            <a:fillRect/>
          </a:stretch>
        </p:blipFill>
        <p:spPr>
          <a:xfrm>
            <a:off x="4673918" y="2533769"/>
            <a:ext cx="5282565" cy="4512112"/>
          </a:xfrm>
          <a:prstGeom prst="rect">
            <a:avLst/>
          </a:prstGeom>
        </p:spPr>
      </p:pic>
      <p:sp>
        <p:nvSpPr>
          <p:cNvPr id="5" name="Text 2"/>
          <p:cNvSpPr/>
          <p:nvPr/>
        </p:nvSpPr>
        <p:spPr>
          <a:xfrm>
            <a:off x="758071" y="7289483"/>
            <a:ext cx="13114258" cy="346472"/>
          </a:xfrm>
          <a:prstGeom prst="rect">
            <a:avLst/>
          </a:prstGeom>
          <a:noFill/>
          <a:ln/>
        </p:spPr>
        <p:txBody>
          <a:bodyPr wrap="none" lIns="0" tIns="0" rIns="0" bIns="0" rtlCol="0" anchor="t"/>
          <a:lstStyle/>
          <a:p>
            <a:pPr marL="0" indent="0" algn="l">
              <a:lnSpc>
                <a:spcPts val="2700"/>
              </a:lnSpc>
              <a:buNone/>
            </a:pPr>
            <a:endParaRPr lang="en-US" sz="1700" dirty="0"/>
          </a:p>
        </p:txBody>
      </p:sp>
      <p:pic>
        <p:nvPicPr>
          <p:cNvPr id="6" name="Picture 5">
            <a:extLst>
              <a:ext uri="{FF2B5EF4-FFF2-40B4-BE49-F238E27FC236}">
                <a16:creationId xmlns:a16="http://schemas.microsoft.com/office/drawing/2014/main" id="{70910835-BC0C-1C62-1978-B2CD582F2006}"/>
              </a:ext>
            </a:extLst>
          </p:cNvPr>
          <p:cNvPicPr>
            <a:picLocks noChangeAspect="1"/>
          </p:cNvPicPr>
          <p:nvPr/>
        </p:nvPicPr>
        <p:blipFill>
          <a:blip r:embed="rId4"/>
          <a:stretch>
            <a:fillRect/>
          </a:stretch>
        </p:blipFill>
        <p:spPr>
          <a:xfrm>
            <a:off x="12245419" y="7695714"/>
            <a:ext cx="2384981" cy="53388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213</Words>
  <Application>Microsoft Office PowerPoint</Application>
  <PresentationFormat>Custom</PresentationFormat>
  <Paragraphs>26</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DM Sans Bold</vt:lpstr>
      <vt:lpstr>DM Sans</vt:lpstr>
      <vt:lpstr>Arial</vt:lpstr>
      <vt:lpstr>Libre Baskerville</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Daivik</dc:creator>
  <cp:lastModifiedBy>Daivik Jain</cp:lastModifiedBy>
  <cp:revision>2</cp:revision>
  <dcterms:created xsi:type="dcterms:W3CDTF">2025-06-24T16:50:49Z</dcterms:created>
  <dcterms:modified xsi:type="dcterms:W3CDTF">2025-06-25T12:12:12Z</dcterms:modified>
</cp:coreProperties>
</file>